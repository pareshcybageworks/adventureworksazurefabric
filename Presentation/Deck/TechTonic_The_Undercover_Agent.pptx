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8" r:id="rId5"/>
    <p:sldId id="271" r:id="rId6"/>
    <p:sldId id="259" r:id="rId7"/>
    <p:sldId id="290" r:id="rId8"/>
    <p:sldId id="291" r:id="rId9"/>
    <p:sldId id="272" r:id="rId10"/>
    <p:sldId id="292" r:id="rId11"/>
    <p:sldId id="295" r:id="rId12"/>
    <p:sldId id="273" r:id="rId13"/>
    <p:sldId id="293" r:id="rId14"/>
    <p:sldId id="274" r:id="rId15"/>
    <p:sldId id="294" r:id="rId16"/>
    <p:sldId id="275" r:id="rId17"/>
    <p:sldId id="296" r:id="rId18"/>
    <p:sldId id="276" r:id="rId19"/>
    <p:sldId id="297" r:id="rId20"/>
    <p:sldId id="279" r:id="rId21"/>
    <p:sldId id="265" r:id="rId22"/>
    <p:sldId id="298" r:id="rId23"/>
    <p:sldId id="277" r:id="rId24"/>
    <p:sldId id="266" r:id="rId25"/>
    <p:sldId id="267" r:id="rId26"/>
    <p:sldId id="280" r:id="rId27"/>
    <p:sldId id="268" r:id="rId28"/>
    <p:sldId id="278" r:id="rId29"/>
    <p:sldId id="281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6F51"/>
    <a:srgbClr val="06A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4A261"/>
                </a:solidFill>
                <a:latin typeface="Cambria"/>
              </a:defRPr>
            </a:pPr>
            <a:r>
              <a:t>The Undercover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2A9D8F"/>
                </a:solidFill>
              </a:defRPr>
            </a:pPr>
            <a:r>
              <a:rPr dirty="0"/>
              <a:t>AI's Deep Infiltration into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Like the legendary heist. But here, the infiltrators solve problems. 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B8B"/>
                </a:solidFill>
              </a:defRPr>
            </a:pPr>
            <a:r>
              <a:rPr dirty="0" err="1"/>
              <a:t>TechTonic</a:t>
            </a:r>
            <a:r>
              <a:rPr dirty="0"/>
              <a:t> Conference • From AI-Assisted to AI-Automated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hurandhar The Revenge (2026) - Movie | Reviews, Cast &amp; Release Date in  Leh- BookMyShow">
            <a:extLst>
              <a:ext uri="{FF2B5EF4-FFF2-40B4-BE49-F238E27FC236}">
                <a16:creationId xmlns:a16="http://schemas.microsoft.com/office/drawing/2014/main" id="{AD8DD681-FED5-B847-5388-4F6388A8B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06" y="742538"/>
            <a:ext cx="8164289" cy="4082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FDFA31-5226-9FCA-78C7-D6D3F31C9B12}"/>
              </a:ext>
            </a:extLst>
          </p:cNvPr>
          <p:cNvSpPr txBox="1"/>
          <p:nvPr/>
        </p:nvSpPr>
        <p:spPr>
          <a:xfrm>
            <a:off x="457199" y="219318"/>
            <a:ext cx="66559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Cambria"/>
              </a:defRPr>
            </a:pPr>
            <a:r>
              <a:rPr sz="2800" dirty="0"/>
              <a:t>The Problem: Manual Data Engineering</a:t>
            </a:r>
          </a:p>
        </p:txBody>
      </p:sp>
    </p:spTree>
    <p:extLst>
      <p:ext uri="{BB962C8B-B14F-4D97-AF65-F5344CB8AC3E}">
        <p14:creationId xmlns:p14="http://schemas.microsoft.com/office/powerpoint/2010/main" val="326916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Cambria"/>
              </a:defRPr>
            </a:pPr>
            <a:r>
              <a:rPr dirty="0"/>
              <a:t>The Problem: Manual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B2D42"/>
                </a:solidFill>
              </a:defRPr>
            </a:pPr>
            <a:r>
              <a:t>💼 Manual handoffs between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B2D42"/>
                </a:solidFill>
              </a:defRPr>
            </a:pPr>
            <a:r>
              <a:t>⏱️ Months of delivery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B2D42"/>
                </a:solidFill>
              </a:defRPr>
            </a:pPr>
            <a:r>
              <a:t>❌ Inconsistent quality &amp; SLAs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B2D42"/>
                </a:solidFill>
              </a:defRPr>
            </a:pPr>
            <a:r>
              <a:t>🔄 Repetitive, error-prone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solidFill>
            <a:srgbClr val="E76F51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📊 Result: Data teams spend 70% of time on operations, 30% on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5865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Cambria"/>
              </a:defRPr>
            </a:pPr>
            <a:r>
              <a:rPr sz="2800" dirty="0"/>
              <a:t>The Solution: 6 Pillars of Automated Delivery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560320" cy="164592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dirty="0"/>
              <a:t>Specs</a:t>
            </a:r>
          </a:p>
          <a:p>
            <a:r>
              <a:rPr dirty="0"/>
              <a:t>Driven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005840"/>
            <a:ext cx="2560320" cy="1645920"/>
          </a:xfrm>
          <a:prstGeom prst="rect">
            <a:avLst/>
          </a:prstGeom>
          <a:solidFill>
            <a:srgbClr val="2A9D8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143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88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dirty="0"/>
              <a:t>Fabric</a:t>
            </a:r>
          </a:p>
          <a:p>
            <a:r>
              <a:rPr dirty="0"/>
              <a:t>MCP Scaffolding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2560320" cy="1645920"/>
          </a:xfrm>
          <a:prstGeom prst="rect">
            <a:avLst/>
          </a:prstGeom>
          <a:solidFill>
            <a:srgbClr val="E76F51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188720"/>
            <a:ext cx="164592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dirty="0"/>
              <a:t>Power BI</a:t>
            </a:r>
          </a:p>
          <a:p>
            <a:r>
              <a:rPr dirty="0"/>
              <a:t>MCP </a:t>
            </a:r>
            <a:endParaRPr lang="en-US" dirty="0"/>
          </a:p>
          <a:p>
            <a:r>
              <a:rPr lang="en-US" dirty="0"/>
              <a:t>Reporting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2560320" cy="1645920"/>
          </a:xfrm>
          <a:prstGeom prst="rect">
            <a:avLst/>
          </a:prstGeom>
          <a:solidFill>
            <a:srgbClr val="06A77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Data Ops</a:t>
            </a:r>
          </a:p>
          <a:p>
            <a:r>
              <a:t>Quality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926080"/>
            <a:ext cx="2560320" cy="164592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Feature-Driven</a:t>
            </a:r>
          </a:p>
          <a:p>
            <a:r>
              <a:t>SDLC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2560320" cy="1645920"/>
          </a:xfrm>
          <a:prstGeom prst="rect">
            <a:avLst/>
          </a:prstGeom>
          <a:solidFill>
            <a:srgbClr val="2A9D8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63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t>GitHub</a:t>
            </a:r>
          </a:p>
          <a:p>
            <a:r>
              <a:t>Actions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6A56D-6376-7E86-1103-A2C1C457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Gaurav Gera - Gaurav Gera updated his cover photo.">
            <a:extLst>
              <a:ext uri="{FF2B5EF4-FFF2-40B4-BE49-F238E27FC236}">
                <a16:creationId xmlns:a16="http://schemas.microsoft.com/office/drawing/2014/main" id="{5A1A50A3-5167-E784-6160-C694DFA7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7" b="9089"/>
          <a:stretch>
            <a:fillRect/>
          </a:stretch>
        </p:blipFill>
        <p:spPr>
          <a:xfrm>
            <a:off x="2642616" y="10"/>
            <a:ext cx="6501384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E695B6-6F57-9A32-04DF-F8E137F231C2}"/>
              </a:ext>
            </a:extLst>
          </p:cNvPr>
          <p:cNvSpPr txBox="1"/>
          <p:nvPr/>
        </p:nvSpPr>
        <p:spPr>
          <a:xfrm>
            <a:off x="358484" y="841772"/>
            <a:ext cx="4598527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Pillar 1: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 improvisation.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Everything written down.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Every move planned.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85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t>📋 Pillar 1: Specs-Driven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Data contracts define schema, SLAs,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YAML/JSON specs drive infrastructure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Single source of truth for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Enables reproducible, testable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💡 Key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Transform requirements into executable code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A127E2-31D8-F430-A8BC-57B5A60B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191577"/>
            <a:ext cx="8178799" cy="276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5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C033E-6271-6284-6FE8-D4A642E7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9BBB6-E48B-8F8A-E015-8853DB4D5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D1269-E332-37B5-B2D1-4444F4F30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6BFEBF-537D-7AF3-8D66-0EE9286061D4}"/>
              </a:ext>
            </a:extLst>
          </p:cNvPr>
          <p:cNvSpPr txBox="1"/>
          <p:nvPr/>
        </p:nvSpPr>
        <p:spPr>
          <a:xfrm>
            <a:off x="358484" y="841772"/>
            <a:ext cx="4598527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Pillar 2: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Don’t solve the problem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until you've given it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map of the environment.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38722D-CD64-F9F2-D486-D7A4E799E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8B638E-E992-A13C-E31D-251D5ED8C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13BA1-17F0-679D-B871-72AE93C7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629" y="13716"/>
            <a:ext cx="5584371" cy="51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0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00C9-FB6E-BD33-FB18-DCBD3428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AE976-3DB9-83C4-6C5E-2612D8FBEE12}"/>
              </a:ext>
            </a:extLst>
          </p:cNvPr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t>🏗️ Pillar 2: Fabric MCP Scaffolding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5C6A1-A02E-2F68-F17B-D93FBF0D977D}"/>
              </a:ext>
            </a:extLst>
          </p:cNvPr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Metadata-driven notebook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B3C31-7506-2DAB-C846-3D0A68D5E2CA}"/>
              </a:ext>
            </a:extLst>
          </p:cNvPr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Medallion architecture (Bronze→Silver→Gold)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DC9CE-E857-68E9-A392-869B90A06010}"/>
              </a:ext>
            </a:extLst>
          </p:cNvPr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Automatic schema inference &amp; lineage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8C603-5E20-602C-2BDE-DE848A2DA004}"/>
              </a:ext>
            </a:extLst>
          </p:cNvPr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SQL Endpoint for read-only query access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36429C-62B3-9606-8A12-A3605B8B4179}"/>
              </a:ext>
            </a:extLst>
          </p:cNvPr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5582D-C0D8-ECCF-560F-BC3AC54D0CC8}"/>
              </a:ext>
            </a:extLst>
          </p:cNvPr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💡 Key Benefit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AC361-6C61-F0FE-349F-123F12AE5E3A}"/>
              </a:ext>
            </a:extLst>
          </p:cNvPr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Create Fabric infrastructure and pipelines from JSON specs</a:t>
            </a:r>
          </a:p>
        </p:txBody>
      </p:sp>
    </p:spTree>
    <p:extLst>
      <p:ext uri="{BB962C8B-B14F-4D97-AF65-F5344CB8AC3E}">
        <p14:creationId xmlns:p14="http://schemas.microsoft.com/office/powerpoint/2010/main" val="268359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833307-1681-AF0F-403C-281ECEFA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666"/>
            <a:ext cx="9144000" cy="327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D78CD-6894-7AA5-9234-F4121C74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33F8FAE-DC7E-2B66-90C3-DF9F1542D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9AC941-34E5-6032-F4E0-0397CC385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9" r="22549"/>
          <a:stretch/>
        </p:blipFill>
        <p:spPr>
          <a:xfrm>
            <a:off x="2642616" y="10"/>
            <a:ext cx="6501384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35A0463-1616-2EFA-0356-6E610E14F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47E38C-AA1D-ACD1-E5B2-4FA21F760D69}"/>
              </a:ext>
            </a:extLst>
          </p:cNvPr>
          <p:cNvSpPr txBox="1"/>
          <p:nvPr/>
        </p:nvSpPr>
        <p:spPr>
          <a:xfrm>
            <a:off x="358484" y="841772"/>
            <a:ext cx="4598527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Pillar 3: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Plans start the mission.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Intelligence keeps the mission successful.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D588FA-9259-9B00-FD62-D5E72577D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7079F3-9438-140E-0716-485615E0A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64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4333-EFEF-72F0-C7AF-E4E1E0B1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A710D8-9837-A5E4-B131-73334A95357A}"/>
              </a:ext>
            </a:extLst>
          </p:cNvPr>
          <p:cNvSpPr txBox="1"/>
          <p:nvPr/>
        </p:nvSpPr>
        <p:spPr>
          <a:xfrm>
            <a:off x="457200" y="274320"/>
            <a:ext cx="61798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dirty="0"/>
              <a:t>📊 Pillar 3: Power BI MCP </a:t>
            </a:r>
            <a:r>
              <a:rPr lang="en-US" dirty="0"/>
              <a:t>Reporting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BEEE3-6615-00FE-1B9B-5289F975362D}"/>
              </a:ext>
            </a:extLst>
          </p:cNvPr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Automated dashboard generation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9E5E0-4914-8AD0-B9F7-34BE85C5D4B4}"/>
              </a:ext>
            </a:extLst>
          </p:cNvPr>
          <p:cNvSpPr txBox="1"/>
          <p:nvPr/>
        </p:nvSpPr>
        <p:spPr>
          <a:xfrm>
            <a:off x="914400" y="141732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rPr dirty="0"/>
              <a:t>• 4 dashboard types (Sales, Quality, Executive, Self-Service)</a:t>
            </a:r>
            <a:r>
              <a:rPr lang="en-US" dirty="0"/>
              <a:t> and Data Audit Reports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16DD4-F570-6874-39EA-3D4E14D4EAFF}"/>
              </a:ext>
            </a:extLst>
          </p:cNvPr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Fabric SQL Endpoint native connectivity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A6228-F52E-EEBD-3250-0CFF3D8D6BEA}"/>
              </a:ext>
            </a:extLst>
          </p:cNvPr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Consistent branding &amp; styling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23C4B4-4889-38B3-70E2-19839E68AD1B}"/>
              </a:ext>
            </a:extLst>
          </p:cNvPr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07289-8D52-679F-6CA5-B2948D5391E5}"/>
              </a:ext>
            </a:extLst>
          </p:cNvPr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💡 Key Benefit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64F7D-9B62-D44A-407A-B8E855DCF25C}"/>
              </a:ext>
            </a:extLst>
          </p:cNvPr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Generate production-ready reports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26915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88A5D-A152-9AD9-2C23-828F83E8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FB6D66-7C66-F0F7-2160-94C3F9B3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22DA4E-041B-A4B9-BDB4-AD789A0F6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95" r="23195"/>
          <a:stretch/>
        </p:blipFill>
        <p:spPr>
          <a:xfrm>
            <a:off x="4111362" y="10"/>
            <a:ext cx="5032637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EFD2713-87DE-F0C8-1EE5-B23ACD950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C97F03-D66F-F96B-4FFF-11944BC2DA0B}"/>
              </a:ext>
            </a:extLst>
          </p:cNvPr>
          <p:cNvSpPr txBox="1"/>
          <p:nvPr/>
        </p:nvSpPr>
        <p:spPr>
          <a:xfrm>
            <a:off x="358484" y="841772"/>
            <a:ext cx="4598527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Pillar 4: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Dry Run Every Single Move.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If something fails,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 adjust.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DB11D1-D708-40F7-C2D3-2052B197F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D84A1E-7FBE-4B56-9613-63D45646C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19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BDD65-3216-2D49-83E8-88C280387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8F0CE-FC59-7828-E700-6926F45C44D5}"/>
              </a:ext>
            </a:extLst>
          </p:cNvPr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t>✅ Pillar 4: Data Ops Quality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F85C8-8C1A-A91E-6ADE-EA5CA712F3ED}"/>
              </a:ext>
            </a:extLst>
          </p:cNvPr>
          <p:cNvSpPr txBox="1"/>
          <p:nvPr/>
        </p:nvSpPr>
        <p:spPr>
          <a:xfrm>
            <a:off x="914400" y="100584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rPr dirty="0"/>
              <a:t>• Great Expectations integration</a:t>
            </a:r>
            <a:r>
              <a:rPr lang="en-US" dirty="0"/>
              <a:t> / DBT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A3C58-EE3C-767A-E3A2-A226813EB704}"/>
              </a:ext>
            </a:extLst>
          </p:cNvPr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SLA monitoring (Freshness, Completeness, Uniqueness)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62CD1-20DE-84B9-73C0-764F23EAADF6}"/>
              </a:ext>
            </a:extLst>
          </p:cNvPr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Quality check notebooks per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36414-AAE3-BF96-427E-2A3EEDCCE531}"/>
              </a:ext>
            </a:extLst>
          </p:cNvPr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Automated alerts &amp; reporting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13CA71-CC20-6A88-CAA9-B8454E13749A}"/>
              </a:ext>
            </a:extLst>
          </p:cNvPr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0EB34-D7A7-301B-BB17-A9E31A7DFBBF}"/>
              </a:ext>
            </a:extLst>
          </p:cNvPr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💡 Key Benefit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5CE73-8C19-96D4-AFCA-9468A39B5601}"/>
              </a:ext>
            </a:extLst>
          </p:cNvPr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35+ quality checks passing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004056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264EB-6C59-79CD-ABAD-041A84EF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473415C-9C48-82C3-AA5D-8733E1A50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5E93F2-13D2-2AC9-4221-3CB12E4B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" r="18"/>
          <a:stretch/>
        </p:blipFill>
        <p:spPr>
          <a:xfrm>
            <a:off x="3245089" y="10"/>
            <a:ext cx="6105166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9043369-C3E8-EEA2-596E-12B9F4723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3429C-43DE-4853-DACC-A65A38CC2D22}"/>
              </a:ext>
            </a:extLst>
          </p:cNvPr>
          <p:cNvSpPr txBox="1"/>
          <p:nvPr/>
        </p:nvSpPr>
        <p:spPr>
          <a:xfrm>
            <a:off x="358484" y="841772"/>
            <a:ext cx="4598527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Pillar 5: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Complex missions succeed when responsibilities are clear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Not when everyone does everything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27CAC8-8435-DDEE-27C6-DDD58370C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1B7337-8939-20E3-C758-2CC739075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659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B4EA4-3E62-EC0B-AD61-0CEC0982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119DE-F388-4D46-8069-A16373761554}"/>
              </a:ext>
            </a:extLst>
          </p:cNvPr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t>🔀 Pillar 5: Feature-Driven SDLC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BF9D7-586B-79A0-AB5D-D6B3C2765F13}"/>
              </a:ext>
            </a:extLst>
          </p:cNvPr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Feature branch strategy (feature/medallion-*)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47F60-1B31-35B2-F7AA-85C41BC8572B}"/>
              </a:ext>
            </a:extLst>
          </p:cNvPr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Pull request templates with lineage docs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8DA09-E383-0D1D-5532-848E7EB578F8}"/>
              </a:ext>
            </a:extLst>
          </p:cNvPr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Code review gates &amp; CODEOWNERS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0CBA6-E515-FF89-B1B0-E269E91BBD70}"/>
              </a:ext>
            </a:extLst>
          </p:cNvPr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Automated schema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B5B51D-0141-D249-F5CA-1DF699A8F4C9}"/>
              </a:ext>
            </a:extLst>
          </p:cNvPr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82620-1725-6131-74FD-F8B5260CF71E}"/>
              </a:ext>
            </a:extLst>
          </p:cNvPr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💡 Key Benefit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18C30-60B2-FEC9-2318-9BB7EEFF65FA}"/>
              </a:ext>
            </a:extLst>
          </p:cNvPr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Enforce quality &amp; consistency at merge-time</a:t>
            </a:r>
          </a:p>
        </p:txBody>
      </p:sp>
    </p:spTree>
    <p:extLst>
      <p:ext uri="{BB962C8B-B14F-4D97-AF65-F5344CB8AC3E}">
        <p14:creationId xmlns:p14="http://schemas.microsoft.com/office/powerpoint/2010/main" val="2458222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3B90A-3EEB-F359-0F38-8261D55F4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C790E3-1490-72F5-4437-03B671BBD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AD48EC-7180-999E-29DD-11CF558C3A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07" r="14407"/>
          <a:stretch/>
        </p:blipFill>
        <p:spPr>
          <a:xfrm>
            <a:off x="3245089" y="10"/>
            <a:ext cx="6105166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839561E-507F-878F-4099-F44E0D187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F3ED5-FB15-AB35-7422-EB75BCE598C3}"/>
              </a:ext>
            </a:extLst>
          </p:cNvPr>
          <p:cNvSpPr txBox="1"/>
          <p:nvPr/>
        </p:nvSpPr>
        <p:spPr>
          <a:xfrm>
            <a:off x="358484" y="841772"/>
            <a:ext cx="4598527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Pillar 6: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Execution succeeds because preparation was complete.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3C8DE2-4120-CDDC-46D9-BE5FC93F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0E31F5-0620-9694-886D-466A31B96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696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CA3AB-0EE7-143E-642C-81BB2E3D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49B7DB-4B22-CBFB-49D4-D5399086350B}"/>
              </a:ext>
            </a:extLst>
          </p:cNvPr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dirty="0"/>
              <a:t>⚙️ Pillar 6: GitHub Actions CI/CD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1BFE9-D383-D591-07D8-543787BE7D9C}"/>
              </a:ext>
            </a:extLst>
          </p:cNvPr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PR validation &amp; schema checks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2C2DC-2AF7-9630-0E89-95AC3F56BFAD}"/>
              </a:ext>
            </a:extLst>
          </p:cNvPr>
          <p:cNvSpPr txBox="1"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Multi-environment promotion (dev→qa→uat→prod)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E74F3-40F3-3896-FC7C-C27C70B61BD4}"/>
              </a:ext>
            </a:extLst>
          </p:cNvPr>
          <p:cNvSpPr txBox="1"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Automated deployment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1BDAA5-66C8-1CDA-12E7-FACDB51E5E04}"/>
              </a:ext>
            </a:extLst>
          </p:cNvPr>
          <p:cNvSpPr txBox="1"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D42"/>
                </a:solidFill>
              </a:defRPr>
            </a:pPr>
            <a:r>
              <a:t>• Slack notifications &amp; audit logs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351AD-25DB-A1B9-ED6A-8CF5FCD296F8}"/>
              </a:ext>
            </a:extLst>
          </p:cNvPr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089917-4481-3859-F564-5DF25D1EDB44}"/>
              </a:ext>
            </a:extLst>
          </p:cNvPr>
          <p:cNvSpPr txBox="1"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1A2E"/>
                </a:solidFill>
              </a:defRPr>
            </a:pPr>
            <a:r>
              <a:t>💡 Key Benefit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6B411F-676D-2720-B9E1-AADFD51A6671}"/>
              </a:ext>
            </a:extLst>
          </p:cNvPr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Push-to-deploy data pipelines with safety gates</a:t>
            </a:r>
          </a:p>
        </p:txBody>
      </p:sp>
    </p:spTree>
    <p:extLst>
      <p:ext uri="{BB962C8B-B14F-4D97-AF65-F5344CB8AC3E}">
        <p14:creationId xmlns:p14="http://schemas.microsoft.com/office/powerpoint/2010/main" val="3680192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A629A-5579-D9E2-8C7E-C93B785B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576F3B-25C9-AFD9-2B7E-057E36D08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A3DC0F-48DC-1784-D8B6-97E414EB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96" r="21996"/>
          <a:stretch/>
        </p:blipFill>
        <p:spPr>
          <a:xfrm>
            <a:off x="3245089" y="10"/>
            <a:ext cx="6105166" cy="5143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A1F8519-5197-CBC6-E32A-944D5CE08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B88DF-2844-A4FB-9E2B-F56A0F5462EF}"/>
              </a:ext>
            </a:extLst>
          </p:cNvPr>
          <p:cNvSpPr txBox="1"/>
          <p:nvPr/>
        </p:nvSpPr>
        <p:spPr>
          <a:xfrm>
            <a:off x="358484" y="841772"/>
            <a:ext cx="4818533" cy="2403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📋 Master Orchestrator: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Many teams. One strategy. One mission.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564CCA-1F0A-F40D-6F13-AF2C19657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DED9FA-4D75-C200-DC79-77F95F77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1596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7736B4-DEE1-72D6-9CEC-12D4B1AE9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0" b="34802"/>
          <a:stretch>
            <a:fillRect/>
          </a:stretch>
        </p:blipFill>
        <p:spPr>
          <a:xfrm>
            <a:off x="2216506" y="1086405"/>
            <a:ext cx="4323283" cy="3911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06468D-8468-B74D-7770-C7ED96CE1D51}"/>
              </a:ext>
            </a:extLst>
          </p:cNvPr>
          <p:cNvSpPr txBox="1"/>
          <p:nvPr/>
        </p:nvSpPr>
        <p:spPr>
          <a:xfrm>
            <a:off x="457200" y="274320"/>
            <a:ext cx="42082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  <a:latin typeface="Cambria"/>
              </a:defRPr>
            </a:pPr>
            <a:r>
              <a:rPr dirty="0"/>
              <a:t>⚙️ </a:t>
            </a:r>
            <a:r>
              <a:rPr lang="en-US" dirty="0"/>
              <a:t>AI Orchestrator Flow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589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1"/>
            <a:ext cx="79688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Cambria"/>
              </a:defRPr>
            </a:pPr>
            <a:r>
              <a:rPr dirty="0"/>
              <a:t>Demo Flow: 7-Step End-to-End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📊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📋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Data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4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🏗️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Fabric 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▶️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Execute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20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📊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Create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15 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✅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Quality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10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097280"/>
            <a:ext cx="457200" cy="45720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0100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737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B2D42"/>
                </a:solidFill>
              </a:defRPr>
            </a:pPr>
            <a:r>
              <a:t>🚀</a:t>
            </a:r>
          </a:p>
          <a:p>
            <a:pPr algn="ctr">
              <a:defRPr sz="1000" b="1">
                <a:solidFill>
                  <a:srgbClr val="2B2D42"/>
                </a:solidFill>
              </a:defRPr>
            </a:pPr>
            <a: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2402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8B8B8B"/>
                </a:solidFill>
              </a:defRPr>
            </a:pPr>
            <a:r>
              <a:t>10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2926080"/>
            <a:ext cx="7315200" cy="1737360"/>
          </a:xfrm>
          <a:prstGeom prst="rect">
            <a:avLst/>
          </a:prstGeom>
          <a:solidFill>
            <a:srgbClr val="06A77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306324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📈 Expected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429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✅ 35 quality checks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74903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📊 3 dashboards created (Sales, Quality, Executive)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06907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💾 7 tables (3 Bronze, 2 Silver, 2 Gold)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38911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A1A2E"/>
                </a:solidFill>
              </a:defRPr>
            </a:pPr>
            <a:r>
              <a:t>⚡ Complete automation in 90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701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EC6529-629E-447B-FFBC-D6097CAFFB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817"/>
          <a:stretch>
            <a:fillRect/>
          </a:stretch>
        </p:blipFill>
        <p:spPr>
          <a:xfrm>
            <a:off x="682052" y="292308"/>
            <a:ext cx="7445523" cy="463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54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Cambria"/>
              </a:defRPr>
            </a:pPr>
            <a:r>
              <a:t>Results: Speed, Consistency,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solidFill>
            <a:srgbClr val="F4A261"/>
          </a:solidFill>
          <a:ln w="254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B8B"/>
                </a:solidFill>
              </a:defRPr>
            </a:pPr>
            <a:r>
              <a:t>Total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1097280"/>
            <a:ext cx="1828800" cy="1097280"/>
          </a:xfrm>
          <a:prstGeom prst="rect">
            <a:avLst/>
          </a:prstGeom>
          <a:solidFill>
            <a:srgbClr val="06A77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9748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691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B8B"/>
                </a:solidFill>
              </a:defRPr>
            </a:pPr>
            <a:r>
              <a:t>SLA Compliance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97280"/>
            <a:ext cx="1828800" cy="1097280"/>
          </a:xfrm>
          <a:prstGeom prst="rect">
            <a:avLst/>
          </a:prstGeom>
          <a:solidFill>
            <a:srgbClr val="2A9D8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B8B"/>
                </a:solidFill>
              </a:defRPr>
            </a:pPr>
            <a:r>
              <a:t>Quality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097280"/>
            <a:ext cx="1828800" cy="1097280"/>
          </a:xfrm>
          <a:prstGeom prst="rect">
            <a:avLst/>
          </a:prstGeom>
          <a:solidFill>
            <a:srgbClr val="E76F51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6916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8B8B"/>
                </a:solidFill>
              </a:defRPr>
            </a:pPr>
            <a:r>
              <a:t>Manual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2E"/>
                </a:solidFill>
              </a:defRPr>
            </a:pPr>
            <a:r>
              <a:t>Before vs.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Delivery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80360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B6B"/>
                </a:solidFill>
              </a:defRPr>
            </a:pPr>
            <a:r>
              <a:t>❌ 2-3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A77D"/>
                </a:solidFill>
              </a:defRPr>
            </a:pPr>
            <a:r>
              <a:t>✅ 90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2783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2783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B6B"/>
                </a:solidFill>
              </a:defRPr>
            </a:pPr>
            <a:r>
              <a:t>❌ Manual handoffs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22783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A77D"/>
                </a:solidFill>
              </a:defRPr>
            </a:pPr>
            <a:r>
              <a:t>✅ Automated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75303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Team 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575303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B6B"/>
                </a:solidFill>
              </a:defRPr>
            </a:pPr>
            <a:r>
              <a:t>❌ 70% Ops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575303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A77D"/>
                </a:solidFill>
              </a:defRPr>
            </a:pPr>
            <a:r>
              <a:t>✅ 30% Ops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2277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922776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6B6B"/>
                </a:solidFill>
              </a:defRPr>
            </a:pPr>
            <a:r>
              <a:t>❌ Ad-hoc 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227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A77D"/>
                </a:solidFill>
              </a:defRPr>
            </a:pPr>
            <a:r>
              <a:t>✅ Automated SLA checks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0302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A261"/>
                </a:solidFill>
                <a:latin typeface="Cambria"/>
              </a:defRPr>
            </a:pP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Infiltration: 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A9D8F"/>
                </a:solidFill>
              </a:defRPr>
            </a:pPr>
            <a:r>
              <a:t>Like a master heist, AI agents have silently taken over the repetitive work...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06A77D"/>
          </a:solidFill>
          <a:ln w="254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3641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6F51"/>
                </a:solidFill>
              </a:defRPr>
            </a:pPr>
            <a:r>
              <a:rPr dirty="0">
                <a:solidFill>
                  <a:srgbClr val="FFFF00"/>
                </a:solidFill>
              </a:rPr>
              <a:t>❌ BEFORE: Manual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Requirements gathering (manual)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Design &amp; architecture meetings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780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Hand-code notebooks (trial &amp; error)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254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Manual data quality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72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Spreadsheet-driven deployments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Weeks of troubleshooting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679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• Knowledge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E76F51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1371600"/>
            <a:ext cx="27398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A77D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✅ AFTER: AI-Automated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783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Specs define everything (YAML/JSON)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30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AI generates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4780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Auto-scaffolded notebooks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254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Automated SLA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172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GitOps deployment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204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Minutes to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86791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✓ Reproducible &amp; auditable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1D11B4-78B4-E596-013C-2DE99BA9D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3" y="258387"/>
            <a:ext cx="8475434" cy="462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47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Cambria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57200" cy="457200"/>
          </a:xfrm>
          <a:prstGeom prst="roundRect">
            <a:avLst/>
          </a:prstGeom>
          <a:solidFill>
            <a:srgbClr val="F4A2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Specs-Driven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19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B8B8B"/>
                </a:solidFill>
              </a:defRPr>
            </a:pPr>
            <a:r>
              <a:t>Let JSON/YAML specs drive infrastructure, not manual clicks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097280"/>
            <a:ext cx="457200" cy="457200"/>
          </a:xfrm>
          <a:prstGeom prst="roundRect">
            <a:avLst/>
          </a:prstGeom>
          <a:solidFill>
            <a:srgbClr val="F4A2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097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AI Agents as 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417319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B8B8B"/>
                </a:solidFill>
              </a:defRPr>
            </a:pPr>
            <a:r>
              <a:t>Agents (Claude, Copilot) can generate production code &amp;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457200" cy="457200"/>
          </a:xfrm>
          <a:prstGeom prst="roundRect">
            <a:avLst/>
          </a:prstGeom>
          <a:solidFill>
            <a:srgbClr val="F4A2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0972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0972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Speed = Competitive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19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B8B8B"/>
                </a:solidFill>
              </a:defRPr>
            </a:pPr>
            <a:r>
              <a:t>90 minutes for what took 3 months—release more frequently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80360"/>
            <a:ext cx="457200" cy="457200"/>
          </a:xfrm>
          <a:prstGeom prst="roundRect">
            <a:avLst/>
          </a:prstGeom>
          <a:solidFill>
            <a:srgbClr val="F4A2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803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Quality Built-In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004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B8B8B"/>
                </a:solidFill>
              </a:defRPr>
            </a:pPr>
            <a:r>
              <a:t>Automated SLA checks prevent bad data from reaching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2880360"/>
            <a:ext cx="457200" cy="457200"/>
          </a:xfrm>
          <a:prstGeom prst="roundRect">
            <a:avLst/>
          </a:prstGeom>
          <a:solidFill>
            <a:srgbClr val="F4A2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37560" y="28803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8803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Reproducibility &amp;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2004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B8B8B"/>
                </a:solidFill>
              </a:defRPr>
            </a:pPr>
            <a:r>
              <a:t>Every build is repeatable, tracked in Git, auditable end-to-end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80360"/>
            <a:ext cx="457200" cy="457200"/>
          </a:xfrm>
          <a:prstGeom prst="roundRect">
            <a:avLst/>
          </a:prstGeom>
          <a:solidFill>
            <a:srgbClr val="F4A2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/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B2D42"/>
                </a:solidFill>
              </a:defRPr>
            </a:pPr>
            <a:r>
              <a:t>Teams &gt;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04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B8B8B"/>
                </a:solidFill>
              </a:defRPr>
            </a:pPr>
            <a:r>
              <a:t>70% of engineer time now spent on innovation, not operations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58CC47-81E4-7559-31BA-6856D9A15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17543"/>
              </p:ext>
            </p:extLst>
          </p:nvPr>
        </p:nvGraphicFramePr>
        <p:xfrm>
          <a:off x="2874818" y="628643"/>
          <a:ext cx="4114800" cy="4023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693811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AI Engineering Principle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260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dirty="0"/>
                        <a:t>efine Specifications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31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H</a:t>
                      </a:r>
                      <a:r>
                        <a:rPr lang="en-US" dirty="0"/>
                        <a:t>arness MCP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280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en-US" dirty="0"/>
                        <a:t>nderstand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16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dirty="0"/>
                        <a:t>efine Iteratively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18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dirty="0"/>
                        <a:t>ssign AI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977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dirty="0"/>
                        <a:t>avigate with Intelligence (Power BI)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39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dirty="0"/>
                        <a:t>eploy with GitHub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78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dirty="0"/>
                        <a:t>armonize Workflows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53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US" dirty="0"/>
                        <a:t>I Orchestrator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082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dirty="0"/>
                        <a:t>ealize Business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23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122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676A2-8EEB-1E08-AADC-3E2973D34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33" y="41964"/>
            <a:ext cx="4895134" cy="505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0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4166</TotalTime>
  <Words>857</Words>
  <Application>Microsoft Office PowerPoint</Application>
  <PresentationFormat>On-screen Show (16:9)</PresentationFormat>
  <Paragraphs>200</Paragraphs>
  <Slides>29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Paresh Pandurang Rane</cp:lastModifiedBy>
  <cp:revision>18</cp:revision>
  <dcterms:created xsi:type="dcterms:W3CDTF">2013-01-27T09:14:16Z</dcterms:created>
  <dcterms:modified xsi:type="dcterms:W3CDTF">2026-07-27T13:40:20Z</dcterms:modified>
  <cp:category/>
</cp:coreProperties>
</file>